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2" r:id="rId4"/>
  </p:sldMasterIdLst>
  <p:notesMasterIdLst>
    <p:notesMasterId r:id="rId6"/>
  </p:notesMasterIdLst>
  <p:handoutMasterIdLst>
    <p:handoutMasterId r:id="rId7"/>
  </p:handoutMasterIdLst>
  <p:sldIdLst>
    <p:sldId id="737" r:id="rId5"/>
  </p:sldIdLst>
  <p:sldSz cx="12192000" cy="6858000"/>
  <p:notesSz cx="9882188" cy="67452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318B71"/>
    <a:srgbClr val="FF0000"/>
    <a:srgbClr val="7C8CAD"/>
    <a:srgbClr val="FFFFFF"/>
    <a:srgbClr val="5E729B"/>
    <a:srgbClr val="AC6488"/>
    <a:srgbClr val="009999"/>
    <a:srgbClr val="993366"/>
    <a:srgbClr val="166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93686" autoAdjust="0"/>
  </p:normalViewPr>
  <p:slideViewPr>
    <p:cSldViewPr snapToGrid="0" snapToObjects="1" showGuides="1">
      <p:cViewPr varScale="1">
        <p:scale>
          <a:sx n="82" d="100"/>
          <a:sy n="82" d="100"/>
        </p:scale>
        <p:origin x="1066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4282282" cy="338435"/>
          </a:xfrm>
          <a:prstGeom prst="rect">
            <a:avLst/>
          </a:prstGeom>
        </p:spPr>
        <p:txBody>
          <a:bodyPr vert="horz" lIns="91437" tIns="45718" rIns="91437" bIns="457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7622" y="3"/>
            <a:ext cx="4282282" cy="338435"/>
          </a:xfrm>
          <a:prstGeom prst="rect">
            <a:avLst/>
          </a:prstGeom>
        </p:spPr>
        <p:txBody>
          <a:bodyPr vert="horz" lIns="91437" tIns="45718" rIns="91437" bIns="45718" rtlCol="0"/>
          <a:lstStyle>
            <a:lvl1pPr algn="r">
              <a:defRPr sz="1200"/>
            </a:lvl1pPr>
          </a:lstStyle>
          <a:p>
            <a:fld id="{2CF8653A-7286-42C1-B0CD-CC838BAA8573}" type="datetimeFigureOut">
              <a:rPr lang="en-US" smtClean="0"/>
              <a:t>03/05/2023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406854"/>
            <a:ext cx="4282282" cy="338434"/>
          </a:xfrm>
          <a:prstGeom prst="rect">
            <a:avLst/>
          </a:prstGeom>
        </p:spPr>
        <p:txBody>
          <a:bodyPr vert="horz" lIns="91437" tIns="45718" rIns="91437" bIns="457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7622" y="6406854"/>
            <a:ext cx="4282282" cy="338434"/>
          </a:xfrm>
          <a:prstGeom prst="rect">
            <a:avLst/>
          </a:prstGeom>
        </p:spPr>
        <p:txBody>
          <a:bodyPr vert="horz" lIns="91437" tIns="45718" rIns="91437" bIns="45718" rtlCol="0" anchor="b"/>
          <a:lstStyle>
            <a:lvl1pPr algn="r">
              <a:defRPr sz="1200"/>
            </a:lvl1pPr>
          </a:lstStyle>
          <a:p>
            <a:fld id="{5D452E93-C51A-471F-9540-B1C8380B6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24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4282282" cy="338435"/>
          </a:xfrm>
          <a:prstGeom prst="rect">
            <a:avLst/>
          </a:prstGeom>
        </p:spPr>
        <p:txBody>
          <a:bodyPr vert="horz" lIns="91437" tIns="45718" rIns="91437" bIns="457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7622" y="3"/>
            <a:ext cx="4282282" cy="338435"/>
          </a:xfrm>
          <a:prstGeom prst="rect">
            <a:avLst/>
          </a:prstGeom>
        </p:spPr>
        <p:txBody>
          <a:bodyPr vert="horz" lIns="91437" tIns="45718" rIns="91437" bIns="45718" rtlCol="0"/>
          <a:lstStyle>
            <a:lvl1pPr algn="r">
              <a:defRPr sz="1200"/>
            </a:lvl1pPr>
          </a:lstStyle>
          <a:p>
            <a:fld id="{DA4A443F-5466-F846-A203-3275D50E491B}" type="datetimeFigureOut">
              <a:rPr lang="en-US" smtClean="0"/>
              <a:t>03/05/2023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7825" y="842963"/>
            <a:ext cx="4046538" cy="2276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7" tIns="45718" rIns="91437" bIns="4571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8219" y="3246171"/>
            <a:ext cx="7905750" cy="2655957"/>
          </a:xfrm>
          <a:prstGeom prst="rect">
            <a:avLst/>
          </a:prstGeom>
        </p:spPr>
        <p:txBody>
          <a:bodyPr vert="horz" lIns="91437" tIns="45718" rIns="91437" bIns="4571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406854"/>
            <a:ext cx="4282282" cy="338434"/>
          </a:xfrm>
          <a:prstGeom prst="rect">
            <a:avLst/>
          </a:prstGeom>
        </p:spPr>
        <p:txBody>
          <a:bodyPr vert="horz" lIns="91437" tIns="45718" rIns="91437" bIns="457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7622" y="6406854"/>
            <a:ext cx="4282282" cy="338434"/>
          </a:xfrm>
          <a:prstGeom prst="rect">
            <a:avLst/>
          </a:prstGeom>
        </p:spPr>
        <p:txBody>
          <a:bodyPr vert="horz" lIns="91437" tIns="45718" rIns="91437" bIns="45718" rtlCol="0" anchor="b"/>
          <a:lstStyle>
            <a:lvl1pPr algn="r">
              <a:defRPr sz="1200"/>
            </a:lvl1pPr>
          </a:lstStyle>
          <a:p>
            <a:fld id="{0D93A3DB-BFA6-1549-8E57-6A056F52F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3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51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96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837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71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73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09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-1-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21475"/>
            <a:ext cx="12192000" cy="1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5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61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28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64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31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8251B-2A4A-F741-A30F-8A59FDE936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21475"/>
            <a:ext cx="12192000" cy="136525"/>
          </a:xfrm>
          <a:prstGeom prst="rect">
            <a:avLst/>
          </a:prstGeom>
        </p:spPr>
      </p:pic>
      <p:pic>
        <p:nvPicPr>
          <p:cNvPr id="9" name="Picture 8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748" y="286847"/>
            <a:ext cx="1436012" cy="4514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913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13FD54DC-5A75-4EB0-8430-F13A211DA0A1}"/>
              </a:ext>
            </a:extLst>
          </p:cNvPr>
          <p:cNvSpPr/>
          <p:nvPr/>
        </p:nvSpPr>
        <p:spPr>
          <a:xfrm>
            <a:off x="4399495" y="5264087"/>
            <a:ext cx="7774763" cy="141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F8D72BF-DD4A-4469-8C15-C53F95CC1AA4}"/>
              </a:ext>
            </a:extLst>
          </p:cNvPr>
          <p:cNvSpPr/>
          <p:nvPr/>
        </p:nvSpPr>
        <p:spPr>
          <a:xfrm>
            <a:off x="4379309" y="3803250"/>
            <a:ext cx="7794949" cy="1440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8D2002-84C5-41D9-8249-18CBD0E4934F}"/>
              </a:ext>
            </a:extLst>
          </p:cNvPr>
          <p:cNvSpPr/>
          <p:nvPr/>
        </p:nvSpPr>
        <p:spPr>
          <a:xfrm>
            <a:off x="0" y="2"/>
            <a:ext cx="12192000" cy="1539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112FA-AA26-47D1-BF61-E97AD8AF52D8}"/>
              </a:ext>
            </a:extLst>
          </p:cNvPr>
          <p:cNvSpPr txBox="1"/>
          <p:nvPr/>
        </p:nvSpPr>
        <p:spPr>
          <a:xfrm>
            <a:off x="66906" y="-438"/>
            <a:ext cx="16615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Jack Antonio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201881-14BA-4DB3-9FD0-889DD14951A2}"/>
              </a:ext>
            </a:extLst>
          </p:cNvPr>
          <p:cNvSpPr/>
          <p:nvPr/>
        </p:nvSpPr>
        <p:spPr>
          <a:xfrm>
            <a:off x="111510" y="286362"/>
            <a:ext cx="1048217" cy="118396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rgbClr val="002060"/>
                </a:solidFill>
              </a:rPr>
              <a:t>Photo </a:t>
            </a:r>
            <a:endParaRPr lang="en-US" sz="1350" dirty="0">
              <a:solidFill>
                <a:srgbClr val="002060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F620735-E964-40F0-9856-F577AB4B8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215015"/>
              </p:ext>
            </p:extLst>
          </p:nvPr>
        </p:nvGraphicFramePr>
        <p:xfrm>
          <a:off x="1832165" y="215087"/>
          <a:ext cx="1825899" cy="118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899">
                  <a:extLst>
                    <a:ext uri="{9D8B030D-6E8A-4147-A177-3AD203B41FA5}">
                      <a16:colId xmlns:a16="http://schemas.microsoft.com/office/drawing/2014/main" val="3982374117"/>
                    </a:ext>
                  </a:extLst>
                </a:gridCol>
              </a:tblGrid>
              <a:tr h="236500">
                <a:tc>
                  <a:txBody>
                    <a:bodyPr/>
                    <a:lstStyle/>
                    <a:p>
                      <a:r>
                        <a:rPr lang="en-US" sz="850" dirty="0">
                          <a:solidFill>
                            <a:schemeClr val="bg1"/>
                          </a:solidFill>
                        </a:rPr>
                        <a:t>Head of Digital Marketing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659360"/>
                  </a:ext>
                </a:extLst>
              </a:tr>
              <a:tr h="236500">
                <a:tc>
                  <a:txBody>
                    <a:bodyPr/>
                    <a:lstStyle/>
                    <a:p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XXXXXXX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524142"/>
                  </a:ext>
                </a:extLst>
              </a:tr>
              <a:tr h="236500">
                <a:tc>
                  <a:txBody>
                    <a:bodyPr/>
                    <a:lstStyle/>
                    <a:p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XXXXXXX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71234"/>
                  </a:ext>
                </a:extLst>
              </a:tr>
              <a:tr h="236500">
                <a:tc>
                  <a:txBody>
                    <a:bodyPr/>
                    <a:lstStyle/>
                    <a:p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XXXXXXX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298039"/>
                  </a:ext>
                </a:extLst>
              </a:tr>
              <a:tr h="236500">
                <a:tc>
                  <a:txBody>
                    <a:bodyPr/>
                    <a:lstStyle/>
                    <a:p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XXXXXXX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15957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19A2A38-FEB2-4022-A3AB-58C6D8DBC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372641"/>
              </p:ext>
            </p:extLst>
          </p:nvPr>
        </p:nvGraphicFramePr>
        <p:xfrm>
          <a:off x="5656042" y="182039"/>
          <a:ext cx="2507075" cy="1245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075">
                  <a:extLst>
                    <a:ext uri="{9D8B030D-6E8A-4147-A177-3AD203B41FA5}">
                      <a16:colId xmlns:a16="http://schemas.microsoft.com/office/drawing/2014/main" val="3009515271"/>
                    </a:ext>
                  </a:extLst>
                </a:gridCol>
              </a:tblGrid>
              <a:tr h="261478">
                <a:tc>
                  <a:txBody>
                    <a:bodyPr/>
                    <a:lstStyle/>
                    <a:p>
                      <a:r>
                        <a:rPr lang="en-US" sz="900" dirty="0"/>
                        <a:t>PDR rating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37659360"/>
                  </a:ext>
                </a:extLst>
              </a:tr>
              <a:tr h="230597">
                <a:tc>
                  <a:txBody>
                    <a:bodyPr/>
                    <a:lstStyle/>
                    <a:p>
                      <a:r>
                        <a:rPr lang="en-US" sz="850" dirty="0"/>
                        <a:t>2021: Distinguished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78524142"/>
                  </a:ext>
                </a:extLst>
              </a:tr>
              <a:tr h="261478">
                <a:tc>
                  <a:txBody>
                    <a:bodyPr/>
                    <a:lstStyle/>
                    <a:p>
                      <a:r>
                        <a:rPr lang="en-US" sz="850" dirty="0"/>
                        <a:t>2020: Exceptional Performer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971234"/>
                  </a:ext>
                </a:extLst>
              </a:tr>
              <a:tr h="230597">
                <a:tc>
                  <a:txBody>
                    <a:bodyPr/>
                    <a:lstStyle/>
                    <a:p>
                      <a:r>
                        <a:rPr lang="en-US" sz="850" dirty="0"/>
                        <a:t>2019: N/A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29298039"/>
                  </a:ext>
                </a:extLst>
              </a:tr>
              <a:tr h="261478">
                <a:tc>
                  <a:txBody>
                    <a:bodyPr/>
                    <a:lstStyle/>
                    <a:p>
                      <a:r>
                        <a:rPr lang="en-US" sz="850" dirty="0"/>
                        <a:t>2018: N/A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1715957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519CA5D-515D-44FF-8308-463A463A3B68}"/>
              </a:ext>
            </a:extLst>
          </p:cNvPr>
          <p:cNvSpPr txBox="1"/>
          <p:nvPr/>
        </p:nvSpPr>
        <p:spPr>
          <a:xfrm>
            <a:off x="3284962" y="-61835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42A67-0CEF-4588-BDA4-CB19FA8256B6}"/>
              </a:ext>
            </a:extLst>
          </p:cNvPr>
          <p:cNvSpPr txBox="1"/>
          <p:nvPr/>
        </p:nvSpPr>
        <p:spPr>
          <a:xfrm>
            <a:off x="6324770" y="-61835"/>
            <a:ext cx="255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Individual Development Plan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681CD7-89A9-46B8-85B7-05A45648243B}"/>
              </a:ext>
            </a:extLst>
          </p:cNvPr>
          <p:cNvSpPr/>
          <p:nvPr/>
        </p:nvSpPr>
        <p:spPr>
          <a:xfrm>
            <a:off x="1250680" y="181421"/>
            <a:ext cx="2453270" cy="12528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D9864C-19DA-48BB-855F-0A5BC936130F}"/>
              </a:ext>
            </a:extLst>
          </p:cNvPr>
          <p:cNvSpPr txBox="1"/>
          <p:nvPr/>
        </p:nvSpPr>
        <p:spPr>
          <a:xfrm>
            <a:off x="1184619" y="240487"/>
            <a:ext cx="626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Job title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7124EF-60C6-4726-AECC-2C4157CC8709}"/>
              </a:ext>
            </a:extLst>
          </p:cNvPr>
          <p:cNvSpPr txBox="1"/>
          <p:nvPr/>
        </p:nvSpPr>
        <p:spPr>
          <a:xfrm>
            <a:off x="1184619" y="468743"/>
            <a:ext cx="626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4B350-DE6D-4249-B310-4E07C13C52BC}"/>
              </a:ext>
            </a:extLst>
          </p:cNvPr>
          <p:cNvSpPr txBox="1"/>
          <p:nvPr/>
        </p:nvSpPr>
        <p:spPr>
          <a:xfrm>
            <a:off x="1184620" y="704945"/>
            <a:ext cx="6016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Brand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FF32E7-E503-4345-A514-6F821F6406D8}"/>
              </a:ext>
            </a:extLst>
          </p:cNvPr>
          <p:cNvSpPr txBox="1"/>
          <p:nvPr/>
        </p:nvSpPr>
        <p:spPr>
          <a:xfrm>
            <a:off x="1184620" y="941299"/>
            <a:ext cx="6475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Company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F61D1B-9C6A-4CCD-A9FF-954592E2B234}"/>
              </a:ext>
            </a:extLst>
          </p:cNvPr>
          <p:cNvSpPr txBox="1"/>
          <p:nvPr/>
        </p:nvSpPr>
        <p:spPr>
          <a:xfrm>
            <a:off x="1184620" y="1169443"/>
            <a:ext cx="5712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Country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71148A2-CFFF-4404-A4C8-0B66491C9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204440"/>
              </p:ext>
            </p:extLst>
          </p:nvPr>
        </p:nvGraphicFramePr>
        <p:xfrm>
          <a:off x="3972085" y="210830"/>
          <a:ext cx="1591429" cy="118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429">
                  <a:extLst>
                    <a:ext uri="{9D8B030D-6E8A-4147-A177-3AD203B41FA5}">
                      <a16:colId xmlns:a16="http://schemas.microsoft.com/office/drawing/2014/main" val="3982374117"/>
                    </a:ext>
                  </a:extLst>
                </a:gridCol>
              </a:tblGrid>
              <a:tr h="1182500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buFont typeface="+mj-lt"/>
                        <a:buAutoNum type="arabicPeriod"/>
                      </a:pPr>
                      <a:r>
                        <a:rPr lang="en-US" sz="850" b="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BA Business Administration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buFont typeface="+mj-lt"/>
                        <a:buAutoNum type="arabicPeriod"/>
                      </a:pPr>
                      <a:r>
                        <a:rPr lang="en-US" sz="850" b="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Google &amp; Facebook certified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659360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AD89C89A-79EC-40CC-B653-EFBBA15558BA}"/>
              </a:ext>
            </a:extLst>
          </p:cNvPr>
          <p:cNvSpPr/>
          <p:nvPr/>
        </p:nvSpPr>
        <p:spPr>
          <a:xfrm>
            <a:off x="3745256" y="181421"/>
            <a:ext cx="1858620" cy="12528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04CD85-D675-4086-8A2D-8302869A05AD}"/>
              </a:ext>
            </a:extLst>
          </p:cNvPr>
          <p:cNvSpPr txBox="1"/>
          <p:nvPr/>
        </p:nvSpPr>
        <p:spPr>
          <a:xfrm>
            <a:off x="3679195" y="186612"/>
            <a:ext cx="307777" cy="120649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Background Education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349D97-E5BA-4FE3-8568-354F345B3A58}"/>
              </a:ext>
            </a:extLst>
          </p:cNvPr>
          <p:cNvSpPr/>
          <p:nvPr/>
        </p:nvSpPr>
        <p:spPr>
          <a:xfrm>
            <a:off x="8058" y="1572907"/>
            <a:ext cx="4335342" cy="10544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CBA0F6-F72E-46B3-AAE9-263F53D18E22}"/>
              </a:ext>
            </a:extLst>
          </p:cNvPr>
          <p:cNvSpPr txBox="1"/>
          <p:nvPr/>
        </p:nvSpPr>
        <p:spPr>
          <a:xfrm>
            <a:off x="8059" y="1786856"/>
            <a:ext cx="4335342" cy="847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200"/>
              </a:lnSpc>
              <a:buFont typeface="+mj-lt"/>
              <a:buAutoNum type="arabicPeriod"/>
            </a:pPr>
            <a:r>
              <a:rPr lang="en-US" sz="850" dirty="0">
                <a:solidFill>
                  <a:srgbClr val="002060"/>
                </a:solidFill>
              </a:rPr>
              <a:t>Certified Agile Engagement Level 1 program.</a:t>
            </a:r>
          </a:p>
          <a:p>
            <a:pPr marL="171450" indent="-171450">
              <a:lnSpc>
                <a:spcPts val="1200"/>
              </a:lnSpc>
              <a:buFont typeface="+mj-lt"/>
              <a:buAutoNum type="arabicPeriod"/>
            </a:pPr>
            <a:r>
              <a:rPr lang="en-US" sz="850" dirty="0">
                <a:solidFill>
                  <a:srgbClr val="002060"/>
                </a:solidFill>
              </a:rPr>
              <a:t>Delivered digital project, ecommerce sites for XXX, XXX &amp; XXXX</a:t>
            </a:r>
          </a:p>
          <a:p>
            <a:pPr marL="171450" indent="-171450">
              <a:lnSpc>
                <a:spcPts val="1200"/>
              </a:lnSpc>
              <a:buFont typeface="+mj-lt"/>
              <a:buAutoNum type="arabicPeriod"/>
            </a:pPr>
            <a:r>
              <a:rPr lang="en-US" sz="850" dirty="0">
                <a:solidFill>
                  <a:srgbClr val="002060"/>
                </a:solidFill>
              </a:rPr>
              <a:t>Introducing new digital platforms and opportunities (Social media, Omni channels, and programmatic) to XXXXXX.</a:t>
            </a:r>
          </a:p>
          <a:p>
            <a:pPr marL="171450" indent="-171450">
              <a:lnSpc>
                <a:spcPts val="1200"/>
              </a:lnSpc>
              <a:buFont typeface="+mj-lt"/>
              <a:buAutoNum type="arabicPeriod"/>
            </a:pPr>
            <a:r>
              <a:rPr lang="en-US" sz="850" dirty="0">
                <a:solidFill>
                  <a:srgbClr val="002060"/>
                </a:solidFill>
              </a:rPr>
              <a:t>Injecting digital mindset into all business channels of XXXX by acting SME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EFF693-822C-48B2-BB8A-2B2D742AECE5}"/>
              </a:ext>
            </a:extLst>
          </p:cNvPr>
          <p:cNvSpPr/>
          <p:nvPr/>
        </p:nvSpPr>
        <p:spPr>
          <a:xfrm>
            <a:off x="8058" y="2627309"/>
            <a:ext cx="4335342" cy="40440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7EF5EE-288E-425E-A976-567117562A94}"/>
              </a:ext>
            </a:extLst>
          </p:cNvPr>
          <p:cNvSpPr/>
          <p:nvPr/>
        </p:nvSpPr>
        <p:spPr>
          <a:xfrm>
            <a:off x="8227364" y="181421"/>
            <a:ext cx="3949028" cy="12595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47A236-3623-4913-BA77-983F60620951}"/>
              </a:ext>
            </a:extLst>
          </p:cNvPr>
          <p:cNvSpPr/>
          <p:nvPr/>
        </p:nvSpPr>
        <p:spPr>
          <a:xfrm>
            <a:off x="0" y="2627310"/>
            <a:ext cx="4335342" cy="246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Strength and Area of Development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AEB5E0-140B-4205-99E0-465290D658FD}"/>
              </a:ext>
            </a:extLst>
          </p:cNvPr>
          <p:cNvSpPr txBox="1"/>
          <p:nvPr/>
        </p:nvSpPr>
        <p:spPr>
          <a:xfrm>
            <a:off x="33452" y="2895082"/>
            <a:ext cx="4276495" cy="3810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850" dirty="0">
                <a:solidFill>
                  <a:srgbClr val="002060"/>
                </a:solidFill>
              </a:rPr>
              <a:t>List top 3 Competencies needed for Development (Highlight </a:t>
            </a:r>
            <a:r>
              <a:rPr lang="en-US" sz="850" b="1" dirty="0">
                <a:solidFill>
                  <a:srgbClr val="FF0000"/>
                </a:solidFill>
              </a:rPr>
              <a:t>RED</a:t>
            </a:r>
            <a:r>
              <a:rPr lang="en-US" sz="850" dirty="0">
                <a:solidFill>
                  <a:srgbClr val="002060"/>
                </a:solidFill>
              </a:rPr>
              <a:t> for current role/</a:t>
            </a:r>
            <a:r>
              <a:rPr lang="en-US" sz="850" b="1" dirty="0">
                <a:solidFill>
                  <a:srgbClr val="00B050"/>
                </a:solidFill>
              </a:rPr>
              <a:t>GREEN</a:t>
            </a:r>
            <a:r>
              <a:rPr lang="en-US" sz="850" dirty="0">
                <a:solidFill>
                  <a:srgbClr val="002060"/>
                </a:solidFill>
              </a:rPr>
              <a:t> for future role)</a:t>
            </a:r>
          </a:p>
          <a:p>
            <a:endParaRPr lang="en-US" sz="600" dirty="0">
              <a:solidFill>
                <a:srgbClr val="002060"/>
              </a:solidFill>
            </a:endParaRPr>
          </a:p>
          <a:p>
            <a:pPr marL="228600" indent="-228600">
              <a:buAutoNum type="arabicPeriod"/>
            </a:pPr>
            <a:r>
              <a:rPr lang="en-US" sz="850" dirty="0">
                <a:solidFill>
                  <a:srgbClr val="FF0000"/>
                </a:solidFill>
              </a:rPr>
              <a:t>Auto Industry Awareness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FF0000"/>
                </a:solidFill>
              </a:rPr>
              <a:t>Provide details</a:t>
            </a:r>
          </a:p>
          <a:p>
            <a:pPr marL="228600" indent="-228600">
              <a:buAutoNum type="arabicPeriod"/>
            </a:pPr>
            <a:r>
              <a:rPr lang="en-US" sz="850" dirty="0">
                <a:solidFill>
                  <a:srgbClr val="00B050"/>
                </a:solidFill>
              </a:rPr>
              <a:t>Strategic Development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B050"/>
                </a:solidFill>
              </a:rPr>
              <a:t>Provide details</a:t>
            </a:r>
          </a:p>
          <a:p>
            <a:pPr marL="228600" indent="-228600">
              <a:buAutoNum type="arabicPeriod"/>
            </a:pPr>
            <a:r>
              <a:rPr lang="en-US" sz="850" dirty="0">
                <a:solidFill>
                  <a:srgbClr val="00B050"/>
                </a:solidFill>
              </a:rPr>
              <a:t>Executive Leadership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B050"/>
                </a:solidFill>
              </a:rPr>
              <a:t>Provide details</a:t>
            </a:r>
            <a:endParaRPr lang="en-US" sz="850" dirty="0"/>
          </a:p>
          <a:p>
            <a:endParaRPr lang="en-US" sz="600" dirty="0">
              <a:solidFill>
                <a:srgbClr val="002060"/>
              </a:solidFill>
            </a:endParaRPr>
          </a:p>
          <a:p>
            <a:r>
              <a:rPr lang="en-US" sz="850" dirty="0">
                <a:solidFill>
                  <a:srgbClr val="002060"/>
                </a:solidFill>
              </a:rPr>
              <a:t>Provide top 3 Strengths (provide by experience) </a:t>
            </a:r>
          </a:p>
          <a:p>
            <a:endParaRPr lang="en-US" sz="850" dirty="0"/>
          </a:p>
          <a:p>
            <a:r>
              <a:rPr lang="en-US" sz="850" b="1" dirty="0">
                <a:solidFill>
                  <a:srgbClr val="002060"/>
                </a:solidFill>
              </a:rPr>
              <a:t>1. Omi channels &amp; Digitalization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Worked on 360 marketing projects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Online, instore and cross platforms digital experience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Track record of successful hybrid marketing performance campaigns</a:t>
            </a:r>
            <a:r>
              <a:rPr lang="en-US" sz="850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850" dirty="0"/>
          </a:p>
          <a:p>
            <a:r>
              <a:rPr lang="en-US" sz="850" b="1" dirty="0">
                <a:solidFill>
                  <a:srgbClr val="002060"/>
                </a:solidFill>
              </a:rPr>
              <a:t>2. Excellent Communication Skills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Active listening &amp; Confident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Provide effective feedback.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Engaging and confident presenter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dirty="0"/>
          </a:p>
          <a:p>
            <a:r>
              <a:rPr lang="en-US" sz="850" b="1" dirty="0">
                <a:solidFill>
                  <a:srgbClr val="002060"/>
                </a:solidFill>
              </a:rPr>
              <a:t>3. People Manager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Ability to lead teams to achieve specific targets and goals.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Excellent coaching and team development capabilities.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2060"/>
                </a:solidFill>
              </a:rPr>
              <a:t>Can manage general marketing teams working in CRM, content, social media, SEO, SEM and Graphics.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8A625C-8682-43C5-94A4-8B14250AFD63}"/>
              </a:ext>
            </a:extLst>
          </p:cNvPr>
          <p:cNvSpPr/>
          <p:nvPr/>
        </p:nvSpPr>
        <p:spPr>
          <a:xfrm>
            <a:off x="4361566" y="1564335"/>
            <a:ext cx="7812692" cy="2215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10B44AE-4480-4A04-A76C-FAD0B4F3C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173" y="607556"/>
            <a:ext cx="204547" cy="18400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82AFBB2-CF89-4F7A-84A0-44BAFF6CFD24}"/>
              </a:ext>
            </a:extLst>
          </p:cNvPr>
          <p:cNvSpPr txBox="1"/>
          <p:nvPr/>
        </p:nvSpPr>
        <p:spPr>
          <a:xfrm>
            <a:off x="11321434" y="788276"/>
            <a:ext cx="93276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50" dirty="0">
                <a:solidFill>
                  <a:srgbClr val="00B050"/>
                </a:solidFill>
                <a:latin typeface="+mj-lt"/>
              </a:rPr>
              <a:t>Career aspiration (in the next 2-3 years)</a:t>
            </a:r>
          </a:p>
          <a:p>
            <a:pPr algn="ctr"/>
            <a:endParaRPr lang="en-US" sz="650" dirty="0">
              <a:solidFill>
                <a:srgbClr val="00B050"/>
              </a:solidFill>
              <a:latin typeface="+mj-lt"/>
            </a:endParaRPr>
          </a:p>
          <a:p>
            <a:pPr algn="ctr"/>
            <a:r>
              <a:rPr lang="en-US" sz="650" dirty="0">
                <a:solidFill>
                  <a:srgbClr val="00B050"/>
                </a:solidFill>
                <a:latin typeface="+mj-lt"/>
              </a:rPr>
              <a:t>Head of Performance Marketing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55980F1-BD3B-43C2-BF7C-3C7052BFAC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208" y="619421"/>
            <a:ext cx="90979" cy="17690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72B1789-B95C-4D6C-A305-210918716CB0}"/>
              </a:ext>
            </a:extLst>
          </p:cNvPr>
          <p:cNvSpPr txBox="1"/>
          <p:nvPr/>
        </p:nvSpPr>
        <p:spPr>
          <a:xfrm>
            <a:off x="11089891" y="150367"/>
            <a:ext cx="116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Role: Digital Marketing Mgr.  Company: XXXXXX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Year: 2020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Duration: 2 years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EC4D46-2A99-4FAC-A654-D0E6B2A86C52}"/>
              </a:ext>
            </a:extLst>
          </p:cNvPr>
          <p:cNvSpPr txBox="1"/>
          <p:nvPr/>
        </p:nvSpPr>
        <p:spPr>
          <a:xfrm>
            <a:off x="10030420" y="943937"/>
            <a:ext cx="1340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Role: Digital Marketing Mgr.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Company: XXX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Year: 2017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Duration: 3 years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1EA37B-5044-40B7-BAB3-C2100E5213FB}"/>
              </a:ext>
            </a:extLst>
          </p:cNvPr>
          <p:cNvSpPr txBox="1"/>
          <p:nvPr/>
        </p:nvSpPr>
        <p:spPr>
          <a:xfrm>
            <a:off x="9097122" y="944537"/>
            <a:ext cx="847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Role: SEO Mgr.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Company: XXXXX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Year: 2013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Duration: 1 year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D08C5E-846E-49B4-A3F4-6B8D81E4962B}"/>
              </a:ext>
            </a:extLst>
          </p:cNvPr>
          <p:cNvSpPr txBox="1"/>
          <p:nvPr/>
        </p:nvSpPr>
        <p:spPr>
          <a:xfrm>
            <a:off x="8187002" y="948351"/>
            <a:ext cx="879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Role: UX Team Lead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Company: XXXXXX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Year: 2008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Duration: 4 years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17523B-BBBB-40BC-AAF8-30ADFAB3D75E}"/>
              </a:ext>
            </a:extLst>
          </p:cNvPr>
          <p:cNvSpPr txBox="1"/>
          <p:nvPr/>
        </p:nvSpPr>
        <p:spPr>
          <a:xfrm>
            <a:off x="8396552" y="165136"/>
            <a:ext cx="11780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" dirty="0">
                <a:solidFill>
                  <a:schemeClr val="accent1"/>
                </a:solidFill>
                <a:latin typeface="+mj-lt"/>
              </a:rPr>
              <a:t>Role: Advertising Specialist</a:t>
            </a:r>
          </a:p>
          <a:p>
            <a:r>
              <a:rPr lang="en-US" sz="650" dirty="0">
                <a:solidFill>
                  <a:schemeClr val="accent1"/>
                </a:solidFill>
                <a:latin typeface="+mj-lt"/>
              </a:rPr>
              <a:t>Company: XXXXXX</a:t>
            </a:r>
          </a:p>
          <a:p>
            <a:r>
              <a:rPr lang="en-US" sz="650" dirty="0">
                <a:solidFill>
                  <a:schemeClr val="accent1"/>
                </a:solidFill>
                <a:latin typeface="+mj-lt"/>
              </a:rPr>
              <a:t>Year: 2012</a:t>
            </a:r>
          </a:p>
          <a:p>
            <a:r>
              <a:rPr lang="en-US" sz="650" dirty="0">
                <a:solidFill>
                  <a:schemeClr val="accent1"/>
                </a:solidFill>
                <a:latin typeface="+mj-lt"/>
              </a:rPr>
              <a:t>Duration: 2 years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15A805-E7B5-4616-9DC7-E8B4A53ABBEF}"/>
              </a:ext>
            </a:extLst>
          </p:cNvPr>
          <p:cNvSpPr txBox="1"/>
          <p:nvPr/>
        </p:nvSpPr>
        <p:spPr>
          <a:xfrm>
            <a:off x="9614926" y="214097"/>
            <a:ext cx="116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Role: Digital Marketing Mgr. Company XXXXXXXX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Year: 2014</a:t>
            </a:r>
          </a:p>
          <a:p>
            <a:r>
              <a:rPr lang="en-US" sz="600" dirty="0">
                <a:solidFill>
                  <a:schemeClr val="accent1"/>
                </a:solidFill>
                <a:latin typeface="+mj-lt"/>
              </a:rPr>
              <a:t>Duration: 2 years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10A569E-91A9-4650-B371-F0FFADEC370B}"/>
              </a:ext>
            </a:extLst>
          </p:cNvPr>
          <p:cNvSpPr/>
          <p:nvPr/>
        </p:nvSpPr>
        <p:spPr>
          <a:xfrm>
            <a:off x="4356050" y="1562327"/>
            <a:ext cx="7818208" cy="246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                       Plan on a Page [Milestones view]    </a:t>
            </a: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6DA3229B-CF17-4331-AF22-A862FA9B4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435357"/>
              </p:ext>
            </p:extLst>
          </p:nvPr>
        </p:nvGraphicFramePr>
        <p:xfrm>
          <a:off x="4361566" y="1833909"/>
          <a:ext cx="7812691" cy="5079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8580">
                  <a:extLst>
                    <a:ext uri="{9D8B030D-6E8A-4147-A177-3AD203B41FA5}">
                      <a16:colId xmlns:a16="http://schemas.microsoft.com/office/drawing/2014/main" val="2083838947"/>
                    </a:ext>
                  </a:extLst>
                </a:gridCol>
                <a:gridCol w="688154">
                  <a:extLst>
                    <a:ext uri="{9D8B030D-6E8A-4147-A177-3AD203B41FA5}">
                      <a16:colId xmlns:a16="http://schemas.microsoft.com/office/drawing/2014/main" val="287960661"/>
                    </a:ext>
                  </a:extLst>
                </a:gridCol>
                <a:gridCol w="716196">
                  <a:extLst>
                    <a:ext uri="{9D8B030D-6E8A-4147-A177-3AD203B41FA5}">
                      <a16:colId xmlns:a16="http://schemas.microsoft.com/office/drawing/2014/main" val="1176985160"/>
                    </a:ext>
                  </a:extLst>
                </a:gridCol>
                <a:gridCol w="600976">
                  <a:extLst>
                    <a:ext uri="{9D8B030D-6E8A-4147-A177-3AD203B41FA5}">
                      <a16:colId xmlns:a16="http://schemas.microsoft.com/office/drawing/2014/main" val="1322941821"/>
                    </a:ext>
                  </a:extLst>
                </a:gridCol>
                <a:gridCol w="600976">
                  <a:extLst>
                    <a:ext uri="{9D8B030D-6E8A-4147-A177-3AD203B41FA5}">
                      <a16:colId xmlns:a16="http://schemas.microsoft.com/office/drawing/2014/main" val="3451747528"/>
                    </a:ext>
                  </a:extLst>
                </a:gridCol>
                <a:gridCol w="623750">
                  <a:extLst>
                    <a:ext uri="{9D8B030D-6E8A-4147-A177-3AD203B41FA5}">
                      <a16:colId xmlns:a16="http://schemas.microsoft.com/office/drawing/2014/main" val="3992480565"/>
                    </a:ext>
                  </a:extLst>
                </a:gridCol>
                <a:gridCol w="578203">
                  <a:extLst>
                    <a:ext uri="{9D8B030D-6E8A-4147-A177-3AD203B41FA5}">
                      <a16:colId xmlns:a16="http://schemas.microsoft.com/office/drawing/2014/main" val="2556737149"/>
                    </a:ext>
                  </a:extLst>
                </a:gridCol>
                <a:gridCol w="600976">
                  <a:extLst>
                    <a:ext uri="{9D8B030D-6E8A-4147-A177-3AD203B41FA5}">
                      <a16:colId xmlns:a16="http://schemas.microsoft.com/office/drawing/2014/main" val="3195779874"/>
                    </a:ext>
                  </a:extLst>
                </a:gridCol>
                <a:gridCol w="600976">
                  <a:extLst>
                    <a:ext uri="{9D8B030D-6E8A-4147-A177-3AD203B41FA5}">
                      <a16:colId xmlns:a16="http://schemas.microsoft.com/office/drawing/2014/main" val="1015757971"/>
                    </a:ext>
                  </a:extLst>
                </a:gridCol>
                <a:gridCol w="600976">
                  <a:extLst>
                    <a:ext uri="{9D8B030D-6E8A-4147-A177-3AD203B41FA5}">
                      <a16:colId xmlns:a16="http://schemas.microsoft.com/office/drawing/2014/main" val="531226077"/>
                    </a:ext>
                  </a:extLst>
                </a:gridCol>
                <a:gridCol w="600976">
                  <a:extLst>
                    <a:ext uri="{9D8B030D-6E8A-4147-A177-3AD203B41FA5}">
                      <a16:colId xmlns:a16="http://schemas.microsoft.com/office/drawing/2014/main" val="1980737616"/>
                    </a:ext>
                  </a:extLst>
                </a:gridCol>
                <a:gridCol w="600976">
                  <a:extLst>
                    <a:ext uri="{9D8B030D-6E8A-4147-A177-3AD203B41FA5}">
                      <a16:colId xmlns:a16="http://schemas.microsoft.com/office/drawing/2014/main" val="3195708098"/>
                    </a:ext>
                  </a:extLst>
                </a:gridCol>
                <a:gridCol w="600976">
                  <a:extLst>
                    <a:ext uri="{9D8B030D-6E8A-4147-A177-3AD203B41FA5}">
                      <a16:colId xmlns:a16="http://schemas.microsoft.com/office/drawing/2014/main" val="1687513836"/>
                    </a:ext>
                  </a:extLst>
                </a:gridCol>
              </a:tblGrid>
              <a:tr h="262748"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Activity</a:t>
                      </a:r>
                    </a:p>
                  </a:txBody>
                  <a:tcPr vert="vert270" anchor="ctr"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2022</a:t>
                      </a:r>
                      <a:endParaRPr 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651302"/>
                  </a:ext>
                </a:extLst>
              </a:tr>
              <a:tr h="245232">
                <a:tc vMerge="1">
                  <a:txBody>
                    <a:bodyPr/>
                    <a:lstStyle/>
                    <a:p>
                      <a:pPr algn="ctr"/>
                      <a:endParaRPr lang="en-US" sz="550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Jan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Feb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Mar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Apr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May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Jun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Jul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Aug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Sep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Oct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Nov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 kern="1200" dirty="0"/>
                        <a:t>Dec</a:t>
                      </a:r>
                      <a:endParaRPr lang="en-US" sz="85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87424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7D958A66-665A-4113-968B-51778EA474EB}"/>
              </a:ext>
            </a:extLst>
          </p:cNvPr>
          <p:cNvSpPr txBox="1"/>
          <p:nvPr/>
        </p:nvSpPr>
        <p:spPr>
          <a:xfrm>
            <a:off x="9048303" y="-59530"/>
            <a:ext cx="2792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Previous Roles and Career Aspirations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E18B1CA-F055-4DC9-B2D6-D4C414BDDD2C}"/>
              </a:ext>
            </a:extLst>
          </p:cNvPr>
          <p:cNvCxnSpPr>
            <a:cxnSpLocks/>
          </p:cNvCxnSpPr>
          <p:nvPr/>
        </p:nvCxnSpPr>
        <p:spPr>
          <a:xfrm>
            <a:off x="8245579" y="805009"/>
            <a:ext cx="39069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9" name="Picture 2" descr="Image result for location pin">
            <a:extLst>
              <a:ext uri="{FF2B5EF4-FFF2-40B4-BE49-F238E27FC236}">
                <a16:creationId xmlns:a16="http://schemas.microsoft.com/office/drawing/2014/main" id="{EDFDA1A2-8C26-4823-A60C-3E33398E7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364" y="619421"/>
            <a:ext cx="196021" cy="17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Image result for location pin">
            <a:extLst>
              <a:ext uri="{FF2B5EF4-FFF2-40B4-BE49-F238E27FC236}">
                <a16:creationId xmlns:a16="http://schemas.microsoft.com/office/drawing/2014/main" id="{5377B91E-F2C8-468A-B342-7C0A7EBFA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12" y="627205"/>
            <a:ext cx="196021" cy="17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Image result for location pin">
            <a:extLst>
              <a:ext uri="{FF2B5EF4-FFF2-40B4-BE49-F238E27FC236}">
                <a16:creationId xmlns:a16="http://schemas.microsoft.com/office/drawing/2014/main" id="{0455382F-AAF5-41E7-9A90-0AB5F31B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343596" y="807473"/>
            <a:ext cx="196021" cy="17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Image result for location pin">
            <a:extLst>
              <a:ext uri="{FF2B5EF4-FFF2-40B4-BE49-F238E27FC236}">
                <a16:creationId xmlns:a16="http://schemas.microsoft.com/office/drawing/2014/main" id="{C971282B-8E56-4572-93D8-12F4C521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382381" y="810648"/>
            <a:ext cx="196021" cy="17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Image result for location pin">
            <a:extLst>
              <a:ext uri="{FF2B5EF4-FFF2-40B4-BE49-F238E27FC236}">
                <a16:creationId xmlns:a16="http://schemas.microsoft.com/office/drawing/2014/main" id="{5A6B7F9A-9023-4B07-9EB2-507F133E4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489648" y="798763"/>
            <a:ext cx="196021" cy="17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A20AED91-BB5B-491C-A4AF-10AE82760E74}"/>
              </a:ext>
            </a:extLst>
          </p:cNvPr>
          <p:cNvSpPr/>
          <p:nvPr/>
        </p:nvSpPr>
        <p:spPr>
          <a:xfrm>
            <a:off x="-9525" y="1558683"/>
            <a:ext cx="4335342" cy="246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Most Recent Achievements &amp; Developmental Experiences/ Initiatives: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67C3B-CD62-44CB-83BD-30BAFC32C9DA}"/>
              </a:ext>
            </a:extLst>
          </p:cNvPr>
          <p:cNvSpPr/>
          <p:nvPr/>
        </p:nvSpPr>
        <p:spPr>
          <a:xfrm>
            <a:off x="4367740" y="2339321"/>
            <a:ext cx="368306" cy="144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800" b="1" dirty="0"/>
              <a:t>Activity 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6A4C4B4-18E0-410B-BF68-922282916996}"/>
              </a:ext>
            </a:extLst>
          </p:cNvPr>
          <p:cNvSpPr/>
          <p:nvPr/>
        </p:nvSpPr>
        <p:spPr>
          <a:xfrm>
            <a:off x="4367740" y="3803352"/>
            <a:ext cx="368306" cy="144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800" b="1" dirty="0"/>
              <a:t>Activity 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F050902-01D2-4A05-B48C-8D7083CDF082}"/>
              </a:ext>
            </a:extLst>
          </p:cNvPr>
          <p:cNvSpPr/>
          <p:nvPr/>
        </p:nvSpPr>
        <p:spPr>
          <a:xfrm>
            <a:off x="4367740" y="5267222"/>
            <a:ext cx="368306" cy="1404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800" b="1" dirty="0"/>
              <a:t>Activity 3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1204E0F-0E3D-44A1-9519-D2AC0C4DD48D}"/>
              </a:ext>
            </a:extLst>
          </p:cNvPr>
          <p:cNvCxnSpPr>
            <a:cxnSpLocks/>
          </p:cNvCxnSpPr>
          <p:nvPr/>
        </p:nvCxnSpPr>
        <p:spPr>
          <a:xfrm>
            <a:off x="4754211" y="2797330"/>
            <a:ext cx="739833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F4CC2E1-91B7-40D5-BAFF-C98761D74114}"/>
              </a:ext>
            </a:extLst>
          </p:cNvPr>
          <p:cNvCxnSpPr>
            <a:cxnSpLocks/>
          </p:cNvCxnSpPr>
          <p:nvPr/>
        </p:nvCxnSpPr>
        <p:spPr>
          <a:xfrm>
            <a:off x="4754211" y="3344830"/>
            <a:ext cx="7392050" cy="2155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7DD272B-6690-4933-BCF3-484966B4A245}"/>
              </a:ext>
            </a:extLst>
          </p:cNvPr>
          <p:cNvSpPr txBox="1"/>
          <p:nvPr/>
        </p:nvSpPr>
        <p:spPr>
          <a:xfrm>
            <a:off x="4677735" y="2338093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70%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9E13848-7EF5-43AC-B11A-85F27EE84314}"/>
              </a:ext>
            </a:extLst>
          </p:cNvPr>
          <p:cNvSpPr txBox="1"/>
          <p:nvPr/>
        </p:nvSpPr>
        <p:spPr>
          <a:xfrm>
            <a:off x="4677735" y="2797330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20%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701706-AB0B-4B36-9DB8-F1EADECF11F7}"/>
              </a:ext>
            </a:extLst>
          </p:cNvPr>
          <p:cNvSpPr txBox="1"/>
          <p:nvPr/>
        </p:nvSpPr>
        <p:spPr>
          <a:xfrm>
            <a:off x="4677735" y="3324294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10%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B595E74-8E68-46D3-9601-B74F14F355D0}"/>
              </a:ext>
            </a:extLst>
          </p:cNvPr>
          <p:cNvCxnSpPr>
            <a:cxnSpLocks/>
          </p:cNvCxnSpPr>
          <p:nvPr/>
        </p:nvCxnSpPr>
        <p:spPr>
          <a:xfrm>
            <a:off x="4754211" y="4235605"/>
            <a:ext cx="7392050" cy="2155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C0036FC-FCC2-4652-8075-EC3142D292AB}"/>
              </a:ext>
            </a:extLst>
          </p:cNvPr>
          <p:cNvCxnSpPr>
            <a:cxnSpLocks/>
          </p:cNvCxnSpPr>
          <p:nvPr/>
        </p:nvCxnSpPr>
        <p:spPr>
          <a:xfrm>
            <a:off x="4754211" y="4783105"/>
            <a:ext cx="7392050" cy="2155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4761227-89BB-4532-9C44-48A61AD4D713}"/>
              </a:ext>
            </a:extLst>
          </p:cNvPr>
          <p:cNvSpPr txBox="1"/>
          <p:nvPr/>
        </p:nvSpPr>
        <p:spPr>
          <a:xfrm>
            <a:off x="4677735" y="3776368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70%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1C305CC-0880-4FE3-A5BD-5D3711CEAFB9}"/>
              </a:ext>
            </a:extLst>
          </p:cNvPr>
          <p:cNvSpPr txBox="1"/>
          <p:nvPr/>
        </p:nvSpPr>
        <p:spPr>
          <a:xfrm>
            <a:off x="4677735" y="4235605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20%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C840184-3319-4F2B-8691-BDD4D484CC4C}"/>
              </a:ext>
            </a:extLst>
          </p:cNvPr>
          <p:cNvSpPr txBox="1"/>
          <p:nvPr/>
        </p:nvSpPr>
        <p:spPr>
          <a:xfrm>
            <a:off x="4677735" y="4762569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10%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94128A1-A808-4B37-9B34-6700D4112B45}"/>
              </a:ext>
            </a:extLst>
          </p:cNvPr>
          <p:cNvCxnSpPr>
            <a:cxnSpLocks/>
          </p:cNvCxnSpPr>
          <p:nvPr/>
        </p:nvCxnSpPr>
        <p:spPr>
          <a:xfrm>
            <a:off x="4754211" y="5721505"/>
            <a:ext cx="7392050" cy="2155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3C38C56-8423-49EE-B153-E6C138DA4F95}"/>
              </a:ext>
            </a:extLst>
          </p:cNvPr>
          <p:cNvCxnSpPr>
            <a:cxnSpLocks/>
          </p:cNvCxnSpPr>
          <p:nvPr/>
        </p:nvCxnSpPr>
        <p:spPr>
          <a:xfrm>
            <a:off x="4754211" y="6269005"/>
            <a:ext cx="7392050" cy="2155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E45DE73-92D7-416E-B965-B3473D9B04FE}"/>
              </a:ext>
            </a:extLst>
          </p:cNvPr>
          <p:cNvSpPr txBox="1"/>
          <p:nvPr/>
        </p:nvSpPr>
        <p:spPr>
          <a:xfrm>
            <a:off x="4677735" y="5262268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70%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2313D3A-9EFB-4BBE-AA60-15C09B0E3426}"/>
              </a:ext>
            </a:extLst>
          </p:cNvPr>
          <p:cNvSpPr txBox="1"/>
          <p:nvPr/>
        </p:nvSpPr>
        <p:spPr>
          <a:xfrm>
            <a:off x="4677735" y="5721505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20%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D1F0000-FE18-44F8-955D-45ED7FDE04F6}"/>
              </a:ext>
            </a:extLst>
          </p:cNvPr>
          <p:cNvSpPr txBox="1"/>
          <p:nvPr/>
        </p:nvSpPr>
        <p:spPr>
          <a:xfrm>
            <a:off x="4677735" y="6248469"/>
            <a:ext cx="45720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/>
              <a:t>10%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8240EF-0005-4F02-AF9B-1443ACCCA98F}"/>
              </a:ext>
            </a:extLst>
          </p:cNvPr>
          <p:cNvSpPr/>
          <p:nvPr/>
        </p:nvSpPr>
        <p:spPr>
          <a:xfrm>
            <a:off x="7843839" y="1583540"/>
            <a:ext cx="4304328" cy="202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821CBADC-3740-4FBF-860D-BE7EC9A25BDA}"/>
              </a:ext>
            </a:extLst>
          </p:cNvPr>
          <p:cNvSpPr/>
          <p:nvPr/>
        </p:nvSpPr>
        <p:spPr>
          <a:xfrm>
            <a:off x="7893037" y="1611281"/>
            <a:ext cx="146050" cy="15072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A48D8-D37B-4B6F-8B6D-23860A8FEC23}"/>
              </a:ext>
            </a:extLst>
          </p:cNvPr>
          <p:cNvSpPr txBox="1"/>
          <p:nvPr/>
        </p:nvSpPr>
        <p:spPr>
          <a:xfrm>
            <a:off x="7983351" y="1552202"/>
            <a:ext cx="71279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/>
              <a:t>Completed</a:t>
            </a:r>
          </a:p>
        </p:txBody>
      </p:sp>
      <p:sp>
        <p:nvSpPr>
          <p:cNvPr id="117" name="Isosceles Triangle 116">
            <a:extLst>
              <a:ext uri="{FF2B5EF4-FFF2-40B4-BE49-F238E27FC236}">
                <a16:creationId xmlns:a16="http://schemas.microsoft.com/office/drawing/2014/main" id="{445C427F-22C6-42F6-ADDE-FB13F8559960}"/>
              </a:ext>
            </a:extLst>
          </p:cNvPr>
          <p:cNvSpPr/>
          <p:nvPr/>
        </p:nvSpPr>
        <p:spPr>
          <a:xfrm>
            <a:off x="8633390" y="1611281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20313EE-5254-4B6F-AB0F-42209D0115A8}"/>
              </a:ext>
            </a:extLst>
          </p:cNvPr>
          <p:cNvSpPr txBox="1"/>
          <p:nvPr/>
        </p:nvSpPr>
        <p:spPr>
          <a:xfrm>
            <a:off x="8679600" y="1552202"/>
            <a:ext cx="71279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/>
              <a:t>On Track</a:t>
            </a:r>
          </a:p>
        </p:txBody>
      </p:sp>
      <p:sp>
        <p:nvSpPr>
          <p:cNvPr id="119" name="Isosceles Triangle 118">
            <a:extLst>
              <a:ext uri="{FF2B5EF4-FFF2-40B4-BE49-F238E27FC236}">
                <a16:creationId xmlns:a16="http://schemas.microsoft.com/office/drawing/2014/main" id="{4C8ED8BC-E6B2-4F2A-91BE-ED1D5C929A90}"/>
              </a:ext>
            </a:extLst>
          </p:cNvPr>
          <p:cNvSpPr/>
          <p:nvPr/>
        </p:nvSpPr>
        <p:spPr>
          <a:xfrm>
            <a:off x="9240692" y="1611281"/>
            <a:ext cx="146050" cy="15072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13480B1-6473-4073-BD57-F52CCDCC47E4}"/>
              </a:ext>
            </a:extLst>
          </p:cNvPr>
          <p:cNvSpPr txBox="1"/>
          <p:nvPr/>
        </p:nvSpPr>
        <p:spPr>
          <a:xfrm>
            <a:off x="9290449" y="1552202"/>
            <a:ext cx="110607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/>
              <a:t>Slightly Delay/Issue</a:t>
            </a:r>
          </a:p>
        </p:txBody>
      </p:sp>
      <p:sp>
        <p:nvSpPr>
          <p:cNvPr id="121" name="Isosceles Triangle 120">
            <a:extLst>
              <a:ext uri="{FF2B5EF4-FFF2-40B4-BE49-F238E27FC236}">
                <a16:creationId xmlns:a16="http://schemas.microsoft.com/office/drawing/2014/main" id="{DF295600-7791-4BF6-9A75-3F9E67D40567}"/>
              </a:ext>
            </a:extLst>
          </p:cNvPr>
          <p:cNvSpPr/>
          <p:nvPr/>
        </p:nvSpPr>
        <p:spPr>
          <a:xfrm>
            <a:off x="10328262" y="1611281"/>
            <a:ext cx="146050" cy="15072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B9F93D-1CE8-40BE-89C3-0FE763BF0FC9}"/>
              </a:ext>
            </a:extLst>
          </p:cNvPr>
          <p:cNvSpPr txBox="1"/>
          <p:nvPr/>
        </p:nvSpPr>
        <p:spPr>
          <a:xfrm>
            <a:off x="10372098" y="1552202"/>
            <a:ext cx="1273617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/>
              <a:t>Significant Delay/Issue</a:t>
            </a:r>
          </a:p>
        </p:txBody>
      </p:sp>
      <p:sp>
        <p:nvSpPr>
          <p:cNvPr id="123" name="Isosceles Triangle 122">
            <a:extLst>
              <a:ext uri="{FF2B5EF4-FFF2-40B4-BE49-F238E27FC236}">
                <a16:creationId xmlns:a16="http://schemas.microsoft.com/office/drawing/2014/main" id="{3BA5EF1F-B4EC-44EC-8599-79C68075974F}"/>
              </a:ext>
            </a:extLst>
          </p:cNvPr>
          <p:cNvSpPr/>
          <p:nvPr/>
        </p:nvSpPr>
        <p:spPr>
          <a:xfrm>
            <a:off x="11524462" y="1611281"/>
            <a:ext cx="146050" cy="150720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2F80A6B-DF47-4B1D-ACB9-9D6B49A72A8F}"/>
              </a:ext>
            </a:extLst>
          </p:cNvPr>
          <p:cNvSpPr txBox="1"/>
          <p:nvPr/>
        </p:nvSpPr>
        <p:spPr>
          <a:xfrm>
            <a:off x="11563340" y="1552202"/>
            <a:ext cx="58920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/>
              <a:t>On Hold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5C5469A-B985-426B-A668-8F539CF0F6A1}"/>
              </a:ext>
            </a:extLst>
          </p:cNvPr>
          <p:cNvSpPr txBox="1"/>
          <p:nvPr/>
        </p:nvSpPr>
        <p:spPr>
          <a:xfrm>
            <a:off x="9657843" y="2365718"/>
            <a:ext cx="1347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accent1"/>
                </a:solidFill>
                <a:latin typeface="+mj-lt"/>
              </a:rPr>
              <a:t>Design product differentiator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A756B3A-02D9-4CC7-B30F-B44CC952C2E9}"/>
              </a:ext>
            </a:extLst>
          </p:cNvPr>
          <p:cNvSpPr txBox="1"/>
          <p:nvPr/>
        </p:nvSpPr>
        <p:spPr>
          <a:xfrm>
            <a:off x="9064396" y="2525502"/>
            <a:ext cx="1877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accent1"/>
                </a:solidFill>
                <a:latin typeface="+mj-lt"/>
              </a:rPr>
              <a:t>Design process &amp; operations standard</a:t>
            </a:r>
          </a:p>
          <a:p>
            <a:r>
              <a:rPr lang="en-US" sz="700" dirty="0">
                <a:solidFill>
                  <a:schemeClr val="accent1"/>
                </a:solidFill>
                <a:latin typeface="+mj-lt"/>
              </a:rPr>
              <a:t>(Benchmark &amp; Industry practice)</a:t>
            </a:r>
          </a:p>
        </p:txBody>
      </p:sp>
      <p:sp>
        <p:nvSpPr>
          <p:cNvPr id="127" name="Isosceles Triangle 126">
            <a:extLst>
              <a:ext uri="{FF2B5EF4-FFF2-40B4-BE49-F238E27FC236}">
                <a16:creationId xmlns:a16="http://schemas.microsoft.com/office/drawing/2014/main" id="{706A604F-0252-4035-9076-C62F21798A9D}"/>
              </a:ext>
            </a:extLst>
          </p:cNvPr>
          <p:cNvSpPr/>
          <p:nvPr/>
        </p:nvSpPr>
        <p:spPr>
          <a:xfrm>
            <a:off x="9605803" y="2368968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Isosceles Triangle 127">
            <a:extLst>
              <a:ext uri="{FF2B5EF4-FFF2-40B4-BE49-F238E27FC236}">
                <a16:creationId xmlns:a16="http://schemas.microsoft.com/office/drawing/2014/main" id="{763FD27B-A16A-4AF8-9E6E-760FC9F3A174}"/>
              </a:ext>
            </a:extLst>
          </p:cNvPr>
          <p:cNvSpPr/>
          <p:nvPr/>
        </p:nvSpPr>
        <p:spPr>
          <a:xfrm>
            <a:off x="9604617" y="2430495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71EE44-FDCE-4602-A3D6-0E351327B3F8}"/>
              </a:ext>
            </a:extLst>
          </p:cNvPr>
          <p:cNvSpPr/>
          <p:nvPr/>
        </p:nvSpPr>
        <p:spPr>
          <a:xfrm>
            <a:off x="5463776" y="2832358"/>
            <a:ext cx="6661318" cy="161253"/>
          </a:xfrm>
          <a:prstGeom prst="rect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Build understanding from Sales &amp; process by shadowing brand MD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8A47BE-2071-475B-AEDC-760471F79680}"/>
              </a:ext>
            </a:extLst>
          </p:cNvPr>
          <p:cNvSpPr txBox="1"/>
          <p:nvPr/>
        </p:nvSpPr>
        <p:spPr>
          <a:xfrm>
            <a:off x="7652149" y="2988260"/>
            <a:ext cx="19224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Attend Electric Vehicle Innovation Summit </a:t>
            </a:r>
          </a:p>
        </p:txBody>
      </p:sp>
      <p:sp>
        <p:nvSpPr>
          <p:cNvPr id="131" name="Isosceles Triangle 130">
            <a:extLst>
              <a:ext uri="{FF2B5EF4-FFF2-40B4-BE49-F238E27FC236}">
                <a16:creationId xmlns:a16="http://schemas.microsoft.com/office/drawing/2014/main" id="{A0467DC0-0288-4273-86E6-1F9601CAC995}"/>
              </a:ext>
            </a:extLst>
          </p:cNvPr>
          <p:cNvSpPr/>
          <p:nvPr/>
        </p:nvSpPr>
        <p:spPr>
          <a:xfrm>
            <a:off x="7596535" y="3000959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551314D-F239-44B3-9592-7593D66DEE69}"/>
              </a:ext>
            </a:extLst>
          </p:cNvPr>
          <p:cNvSpPr txBox="1"/>
          <p:nvPr/>
        </p:nvSpPr>
        <p:spPr>
          <a:xfrm>
            <a:off x="7032451" y="3459281"/>
            <a:ext cx="2015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Sales and Service excellence program level 1 </a:t>
            </a:r>
          </a:p>
        </p:txBody>
      </p:sp>
      <p:sp>
        <p:nvSpPr>
          <p:cNvPr id="133" name="Isosceles Triangle 132">
            <a:extLst>
              <a:ext uri="{FF2B5EF4-FFF2-40B4-BE49-F238E27FC236}">
                <a16:creationId xmlns:a16="http://schemas.microsoft.com/office/drawing/2014/main" id="{D1EA22AF-4D64-459C-8189-DF65C566D66E}"/>
              </a:ext>
            </a:extLst>
          </p:cNvPr>
          <p:cNvSpPr/>
          <p:nvPr/>
        </p:nvSpPr>
        <p:spPr>
          <a:xfrm>
            <a:off x="6944244" y="3463140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66E8F5F-DDC5-46DD-A70F-B860914FA8F7}"/>
              </a:ext>
            </a:extLst>
          </p:cNvPr>
          <p:cNvSpPr txBox="1"/>
          <p:nvPr/>
        </p:nvSpPr>
        <p:spPr>
          <a:xfrm>
            <a:off x="10489648" y="3907304"/>
            <a:ext cx="1702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Implementation of marketing strategy, milestones, OKRs and KPIs</a:t>
            </a:r>
          </a:p>
        </p:txBody>
      </p:sp>
      <p:sp>
        <p:nvSpPr>
          <p:cNvPr id="136" name="Isosceles Triangle 135">
            <a:extLst>
              <a:ext uri="{FF2B5EF4-FFF2-40B4-BE49-F238E27FC236}">
                <a16:creationId xmlns:a16="http://schemas.microsoft.com/office/drawing/2014/main" id="{76C85608-1F90-4694-AC04-CF3D0E6FD3C1}"/>
              </a:ext>
            </a:extLst>
          </p:cNvPr>
          <p:cNvSpPr/>
          <p:nvPr/>
        </p:nvSpPr>
        <p:spPr>
          <a:xfrm>
            <a:off x="11215157" y="3801950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585CC49-0E87-430B-90C5-89DE6C3CE75A}"/>
              </a:ext>
            </a:extLst>
          </p:cNvPr>
          <p:cNvSpPr txBox="1"/>
          <p:nvPr/>
        </p:nvSpPr>
        <p:spPr>
          <a:xfrm>
            <a:off x="8708496" y="5093610"/>
            <a:ext cx="17023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LinkedIn training– Digital strategy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8B8078C-0957-44B7-AD0C-D8D5CCDF04C3}"/>
              </a:ext>
            </a:extLst>
          </p:cNvPr>
          <p:cNvSpPr txBox="1"/>
          <p:nvPr/>
        </p:nvSpPr>
        <p:spPr>
          <a:xfrm>
            <a:off x="9662773" y="4844085"/>
            <a:ext cx="1702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LinkedIn training– Global strategy and brand marketing integration</a:t>
            </a:r>
          </a:p>
        </p:txBody>
      </p:sp>
      <p:sp>
        <p:nvSpPr>
          <p:cNvPr id="139" name="Isosceles Triangle 138">
            <a:extLst>
              <a:ext uri="{FF2B5EF4-FFF2-40B4-BE49-F238E27FC236}">
                <a16:creationId xmlns:a16="http://schemas.microsoft.com/office/drawing/2014/main" id="{101A2786-F923-4F27-8743-06D750B0A7E8}"/>
              </a:ext>
            </a:extLst>
          </p:cNvPr>
          <p:cNvSpPr/>
          <p:nvPr/>
        </p:nvSpPr>
        <p:spPr>
          <a:xfrm>
            <a:off x="9534914" y="4892436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Isosceles Triangle 139">
            <a:extLst>
              <a:ext uri="{FF2B5EF4-FFF2-40B4-BE49-F238E27FC236}">
                <a16:creationId xmlns:a16="http://schemas.microsoft.com/office/drawing/2014/main" id="{DFCCF271-9CD0-43DA-BB03-2A6C9F8B2F85}"/>
              </a:ext>
            </a:extLst>
          </p:cNvPr>
          <p:cNvSpPr/>
          <p:nvPr/>
        </p:nvSpPr>
        <p:spPr>
          <a:xfrm>
            <a:off x="9533728" y="4953963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2F665E6-AD03-4BC8-830C-3B7366EC33F6}"/>
              </a:ext>
            </a:extLst>
          </p:cNvPr>
          <p:cNvCxnSpPr>
            <a:cxnSpLocks/>
            <a:stCxn id="142" idx="5"/>
          </p:cNvCxnSpPr>
          <p:nvPr/>
        </p:nvCxnSpPr>
        <p:spPr>
          <a:xfrm>
            <a:off x="11846652" y="4368677"/>
            <a:ext cx="2784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B0A8CB5-FD03-4FAE-B917-52AEE83DC9B1}"/>
              </a:ext>
            </a:extLst>
          </p:cNvPr>
          <p:cNvSpPr txBox="1"/>
          <p:nvPr/>
        </p:nvSpPr>
        <p:spPr>
          <a:xfrm>
            <a:off x="10495356" y="4482056"/>
            <a:ext cx="1702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Milestone and KPIs progress feedback loops - Dec 2022 onward to SteerCo.</a:t>
            </a:r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DE86F144-4036-42C2-887B-E4F7DC3BD022}"/>
              </a:ext>
            </a:extLst>
          </p:cNvPr>
          <p:cNvSpPr/>
          <p:nvPr/>
        </p:nvSpPr>
        <p:spPr>
          <a:xfrm>
            <a:off x="11737114" y="4293317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5F0BDAB-9254-4E62-9301-D6FDA498FFD2}"/>
              </a:ext>
            </a:extLst>
          </p:cNvPr>
          <p:cNvSpPr txBox="1"/>
          <p:nvPr/>
        </p:nvSpPr>
        <p:spPr>
          <a:xfrm>
            <a:off x="10351093" y="5434933"/>
            <a:ext cx="1879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Set up a directional objectives for the team cascaded from the brand initiatives</a:t>
            </a:r>
          </a:p>
        </p:txBody>
      </p:sp>
      <p:sp>
        <p:nvSpPr>
          <p:cNvPr id="145" name="Isosceles Triangle 144">
            <a:extLst>
              <a:ext uri="{FF2B5EF4-FFF2-40B4-BE49-F238E27FC236}">
                <a16:creationId xmlns:a16="http://schemas.microsoft.com/office/drawing/2014/main" id="{0DF97035-9C00-41D2-A4DB-076D1FA7859A}"/>
              </a:ext>
            </a:extLst>
          </p:cNvPr>
          <p:cNvSpPr/>
          <p:nvPr/>
        </p:nvSpPr>
        <p:spPr>
          <a:xfrm>
            <a:off x="10849237" y="5301295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5B8B374-C4E3-4C23-838B-464BF2CC0C1A}"/>
              </a:ext>
            </a:extLst>
          </p:cNvPr>
          <p:cNvSpPr/>
          <p:nvPr/>
        </p:nvSpPr>
        <p:spPr>
          <a:xfrm>
            <a:off x="5463776" y="5791108"/>
            <a:ext cx="5478374" cy="127531"/>
          </a:xfrm>
          <a:prstGeom prst="rect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Coaching session with Line Manager on setting up the department vision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354A3B1-A7C3-4E01-92F8-B30C01D3DD8A}"/>
              </a:ext>
            </a:extLst>
          </p:cNvPr>
          <p:cNvSpPr txBox="1"/>
          <p:nvPr/>
        </p:nvSpPr>
        <p:spPr>
          <a:xfrm>
            <a:off x="8452437" y="5940692"/>
            <a:ext cx="2233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Coaching session with Line Manager on the launch of  brand specific Digital Org structure</a:t>
            </a:r>
          </a:p>
        </p:txBody>
      </p:sp>
      <p:sp>
        <p:nvSpPr>
          <p:cNvPr id="150" name="Isosceles Triangle 149">
            <a:extLst>
              <a:ext uri="{FF2B5EF4-FFF2-40B4-BE49-F238E27FC236}">
                <a16:creationId xmlns:a16="http://schemas.microsoft.com/office/drawing/2014/main" id="{0AD7C0B9-9B59-4480-B3BB-BA2E88B0E1D6}"/>
              </a:ext>
            </a:extLst>
          </p:cNvPr>
          <p:cNvSpPr/>
          <p:nvPr/>
        </p:nvSpPr>
        <p:spPr>
          <a:xfrm>
            <a:off x="8332667" y="6010669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5912215-1E55-41E5-B363-C7D93706706C}"/>
              </a:ext>
            </a:extLst>
          </p:cNvPr>
          <p:cNvSpPr txBox="1"/>
          <p:nvPr/>
        </p:nvSpPr>
        <p:spPr>
          <a:xfrm>
            <a:off x="5051527" y="6505200"/>
            <a:ext cx="223323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LinkedIn training: Transformational Leadership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B407BC2-3F29-444B-846D-1D673DDBCD6C}"/>
              </a:ext>
            </a:extLst>
          </p:cNvPr>
          <p:cNvSpPr txBox="1"/>
          <p:nvPr/>
        </p:nvSpPr>
        <p:spPr>
          <a:xfrm>
            <a:off x="7032451" y="6492809"/>
            <a:ext cx="223323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LinkedIn training: Executive Leadership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DC45D2D-DA60-44B6-A64D-D0A8A1440FBF}"/>
              </a:ext>
            </a:extLst>
          </p:cNvPr>
          <p:cNvSpPr txBox="1"/>
          <p:nvPr/>
        </p:nvSpPr>
        <p:spPr>
          <a:xfrm>
            <a:off x="7850321" y="6337833"/>
            <a:ext cx="223323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700" dirty="0"/>
              <a:t>LinkedIn training: Leadership mindset</a:t>
            </a:r>
          </a:p>
        </p:txBody>
      </p:sp>
      <p:sp>
        <p:nvSpPr>
          <p:cNvPr id="154" name="Isosceles Triangle 153">
            <a:extLst>
              <a:ext uri="{FF2B5EF4-FFF2-40B4-BE49-F238E27FC236}">
                <a16:creationId xmlns:a16="http://schemas.microsoft.com/office/drawing/2014/main" id="{B20225CF-D98D-47BE-922C-041A3BE88F7A}"/>
              </a:ext>
            </a:extLst>
          </p:cNvPr>
          <p:cNvSpPr/>
          <p:nvPr/>
        </p:nvSpPr>
        <p:spPr>
          <a:xfrm>
            <a:off x="7808106" y="6358414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Isosceles Triangle 154">
            <a:extLst>
              <a:ext uri="{FF2B5EF4-FFF2-40B4-BE49-F238E27FC236}">
                <a16:creationId xmlns:a16="http://schemas.microsoft.com/office/drawing/2014/main" id="{8D88C615-6A5A-4F40-A433-1BF0013EE3D5}"/>
              </a:ext>
            </a:extLst>
          </p:cNvPr>
          <p:cNvSpPr/>
          <p:nvPr/>
        </p:nvSpPr>
        <p:spPr>
          <a:xfrm>
            <a:off x="7194529" y="6358414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Isosceles Triangle 155">
            <a:extLst>
              <a:ext uri="{FF2B5EF4-FFF2-40B4-BE49-F238E27FC236}">
                <a16:creationId xmlns:a16="http://schemas.microsoft.com/office/drawing/2014/main" id="{8F62E819-B2DE-4232-8838-FD1205A7E235}"/>
              </a:ext>
            </a:extLst>
          </p:cNvPr>
          <p:cNvSpPr/>
          <p:nvPr/>
        </p:nvSpPr>
        <p:spPr>
          <a:xfrm>
            <a:off x="6652638" y="6358414"/>
            <a:ext cx="146050" cy="150720"/>
          </a:xfrm>
          <a:prstGeom prst="triangle">
            <a:avLst/>
          </a:prstGeom>
          <a:solidFill>
            <a:srgbClr val="318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23699"/>
      </p:ext>
    </p:extLst>
  </p:cSld>
  <p:clrMapOvr>
    <a:masterClrMapping/>
  </p:clrMapOvr>
</p:sld>
</file>

<file path=ppt/theme/theme1.xml><?xml version="1.0" encoding="utf-8"?>
<a:theme xmlns:a="http://schemas.openxmlformats.org/drawingml/2006/main" name="9_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A691E5BCBDAB498CA651A51215D017" ma:contentTypeVersion="14" ma:contentTypeDescription="Create a new document." ma:contentTypeScope="" ma:versionID="5e71069a38787962a8e48d256d72d607">
  <xsd:schema xmlns:xsd="http://www.w3.org/2001/XMLSchema" xmlns:xs="http://www.w3.org/2001/XMLSchema" xmlns:p="http://schemas.microsoft.com/office/2006/metadata/properties" xmlns:ns3="6d471e4e-2e57-44d9-a931-6ce26dd46cee" xmlns:ns4="ab39abec-0211-4f06-843c-cc3c4edd5f9c" targetNamespace="http://schemas.microsoft.com/office/2006/metadata/properties" ma:root="true" ma:fieldsID="71a1e9b1e37821a0bb0f342f3c0a08e0" ns3:_="" ns4:_="">
    <xsd:import namespace="6d471e4e-2e57-44d9-a931-6ce26dd46cee"/>
    <xsd:import namespace="ab39abec-0211-4f06-843c-cc3c4edd5f9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471e4e-2e57-44d9-a931-6ce26dd46c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39abec-0211-4f06-843c-cc3c4edd5f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E6EA83-7CDA-4372-AABC-57A770E52D93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ab39abec-0211-4f06-843c-cc3c4edd5f9c"/>
    <ds:schemaRef ds:uri="http://purl.org/dc/terms/"/>
    <ds:schemaRef ds:uri="6d471e4e-2e57-44d9-a931-6ce26dd46ce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878A68F-7CCB-4F78-BECB-6BC167F37F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471e4e-2e57-44d9-a931-6ce26dd46cee"/>
    <ds:schemaRef ds:uri="ab39abec-0211-4f06-843c-cc3c4edd5f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AFF086-7A80-4601-A62F-5F48CA587C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34166</TotalTime>
  <Words>536</Words>
  <Application>Microsoft Office PowerPoint</Application>
  <PresentationFormat>Widescreen</PresentationFormat>
  <Paragraphs>127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9_Office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Madhu Babu Singadi</dc:creator>
  <cp:lastModifiedBy>James Philip</cp:lastModifiedBy>
  <cp:revision>1140</cp:revision>
  <cp:lastPrinted>2021-05-23T06:13:31Z</cp:lastPrinted>
  <dcterms:created xsi:type="dcterms:W3CDTF">2017-10-19T09:35:34Z</dcterms:created>
  <dcterms:modified xsi:type="dcterms:W3CDTF">2023-05-03T09:12:06Z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0x0101002EA691E5BCBDAB498CA651A51215D017</vt:lpwstr>
  </property>
</Properties>
</file>